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순서: 무엇을 만들었나 → 실제 결과 → 아이디어와 기술을 찾은 과정 → AI와 도구 활용 → 회고.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PDF: '많은 기능보다 짧더라도 의도한 경험 하나'. 그래서 핵심을 하나로 선언. 핵심 인터랙션: 핀치로 논문을 고르고 손바닥을 펴서 기초까지 펼치기. 손 동작 원칙: 돌리기 = 편 손 좌우(은하는 첫 화면에서만), 선택 = 핀치, 뒤로 = 주먹. 편 손 좌우만큼 돌아가서 '내 손이 대상을 움직인다'는 체감이 생김.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컴포넌트끼리는 이벤트로만 연결(pull-start/move/end, paper-select, concept-select). 코드를 열면 index.html에서 A-Frame 구조가 보이게 한 것이 의도.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시연: 편 손으로 은하 돌리기 → 카드 핀치 → 손 펴서 층 펼치기 → 편 손으로 층 돌리기 → 노드 핀치 → 개념 카드 ①~⑥ → 주먹으로 닫기. 손이 불안하면 마우스(휠·클릭·아래로 끌기).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'결국 공부는 2D 창 아닌가?' → 의도한 분리. 3D는 무엇을 공부할지 찾는 단계, 2D는 읽고 필기·암기하는 단계. 공부 중에 손이 멈추거나 필기하러 움직여도 화면이 반응하면 방해가 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top-down의 뜻은 제가 정의('상위 계층부터 학습하고 기초 개념으로 내려가는 학습 방법'). AI가 두 번 '화면 위쪽 배치'로 잘못 해석해 바로잡음.
왜 top-down: 목적이 '이 논문을 읽는 것'이고 사용자는 기초 일부를 이미 아는 학부생. 기초부터(bottom-up)면 왜 배우는지 모른 채 아는 것까지 다시 거침. 위에서 이유를 먼저 보고 모르는 곳까지만 내려가는 편이 목적에 맞음.
9/30 검토에서 상세 창 학습 경로가 기초부터(L1 → L3) 나오던 모순을 발견해 L3 → L1로 바꿈.
처음 학습 팩은 논문마다 초록을 해설하는 카드('초록엔 ~로 명시')였고 개념끼리 이어지지 않아 버림.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링크: youtube.com/shorts/vUdBDCisdZY · tiktok.com/@tectimmy/video/7649001859239234846 · github.com/collidingScopes/threejs-handtracking-101 · ai.google.dev/edge/mediapipe/solutions/vision/gesture_recognizer
제가 링크를 주고 '임의로 만들지 말고 레퍼런스를 조사한 뒤 적용'하라고 지시. P1 코드는 README만이 아니라 index.html을 직접 받아 확인(손 뼈대 그리기, 평활 계수 0.15, 넉넉한 판정).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docs/01 §5 (9/20 웹 검색 결과 L1~L4), docs/07 §2.5 (첫 학습 팩 설계). 복습 간격(1·3·7일)은 첫 설계에서도 확장으로 남겨 두었고 구현하지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선택 원문: 'MediaPipe가 안정적인 핸드트래킹을 할 수 있는 거 맞아? 다른 오픈소스나 웹XR이 더 안정적인 거 아냐?' 캡처 당시 학습 팩 생성이 같이 돌고 있었음. 다른 캡처는 추론 162ms. '손 없음 100%'·'핀치(마우스)'는 그 1초 동안 손을 놓쳐 마우스로 넘어간 상태 (편 정도 37%는 마지막 손 값).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줄: 실제 손으로 해 보니 층이 끝까지 안 펼쳐지고 손을 펴면 은하가 돎 → 제가 '돌리기는 다 편 손, 선택은 핀치, 뒤로는 주먹'으로 원칙을 정함. 손바닥은 0.5 이상 0.2초면 한 번에 펼치고(시간 제한 없음), 은하는 첫 화면에서만 돎. 회전 속도(… → 10 → 6 → 3, 제가 지정), 패널 전체 잠금 → 가장 앞의 것만 반응(제가 사진으로 지적) 등 나머지 수정은 docs/15-system-study.md 8장. 후 수치 출처: 가짜 웹캠 시험 로그 '추적 11 fps · 추론 84ms'. 영상 촬영 때 실제 웹캠 값과 실제 손 결과로 바꿀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밖에: 학습 경로 L3 → L1 정렬(topDown), 해설 번호 ①~④ 통일(tidyCard). 전체 코드: docs/15-system-study.md 8장.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보조 사례로 짧게. Q2-2의 대표 사례는 앞 장(손 입력).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코드는 Claude가 썼지만 믿고 놔두지 않았다. 질문을 받으면 해당 파일을 열어 설명. 실제로 공부한 만큼만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초안 문장 — 본인 말투로. 확인하지 않은 것을 성공으로 말하지 않기 (합성 좌표로만 확인한 항목 구분).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dflWw2pKoR/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shorts/vUdBDCisdZY" TargetMode="External"/><Relationship Id="rId4" Type="http://schemas.openxmlformats.org/officeDocument/2006/relationships/hyperlink" Target="https://tiktok.com/@tectimmy" TargetMode="External"/><Relationship Id="rId6" Type="http://schemas.openxmlformats.org/officeDocument/2006/relationships/hyperlink" Target="https://github.com/collidingScopes/threejs-handtracking-101" TargetMode="External"/><Relationship Id="rId8" Type="http://schemas.openxmlformats.org/officeDocument/2006/relationships/hyperlink" Target="https://ai.google.dev/edge/mediapipe/solutions/vision/gesture_recognizer" TargetMode="External"/><Relationship Id="rId1" Type="http://schemas.openxmlformats.org/officeDocument/2006/relationships/image" Target="../media/image-10-1.jpg"/><Relationship Id="rId3" Type="http://schemas.openxmlformats.org/officeDocument/2006/relationships/image" Target="../media/image-10-2.jpg"/><Relationship Id="rId5" Type="http://schemas.openxmlformats.org/officeDocument/2006/relationships/image" Target="../media/image-10-3.png"/><Relationship Id="rId7" Type="http://schemas.openxmlformats.org/officeDocument/2006/relationships/image" Target="../media/image-10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gunhyeok0803.github.io/Immersive_Interaction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WRL 학부연구생 사전과제</a:t>
            </a:r>
            <a:endParaRPr lang="ko-KR" alt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0" y="21488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펼치는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64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</a:t>
            </a:r>
            <a:endParaRPr lang="ko-KR" alt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4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논문 44편의 은하에서 논문을 골라, 손을 펴서 읽는 데 필요한 기초까지 펼치기</a:t>
            </a:r>
            <a:endParaRPr lang="ko-KR" alt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57607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alt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 웹 기반 실감 인터랙션 · Q2 기획·탐색·도구 활용</a:t>
            </a:r>
            <a:endParaRPr lang="ko-KR" altLang="en-US" sz="1000" dirty="0"/>
          </a:p>
          <a:p>
            <a:pPr eaLnBrk="0" algn="r" indent="0" marL="0">
              <a:buNone/>
            </a:pPr>
            <a:r>
              <a:rPr lang="ko-KR" alt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2026.09.30</a:t>
            </a:r>
            <a:endParaRPr lang="ko-KR" altLang="en-US" sz="1000" dirty="0"/>
          </a:p>
          <a:p>
            <a:pPr eaLnBrk="0" algn="r" indent="0" marL="0">
              <a:buNone/>
            </a:pPr>
            <a:r>
              <a:rPr lang="ko-KR" alt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A-Frame · MediaPipe · Claude Code · Codex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ko-KR" alt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PDF의 결과 제출 순서 그대로 다섯 부분으로 나눴습니다. 각 장 오른쪽 위에 지금 어느 부분인지 표시됩니다.</a:t>
            </a:r>
            <a:endParaRPr lang="ko-KR" alt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26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ko-KR" alt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57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만들었나</a:t>
            </a:r>
            <a:endParaRPr lang="ko-KR" alt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057400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주제인가 · 핵심 경험 (은하 → 핀치 → 손 펴기) · 구조</a:t>
            </a:r>
            <a:endParaRPr lang="ko-KR" alt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926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26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ko-KR" alt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9260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</a:t>
            </a:r>
            <a:endParaRPr lang="ko-KR" alt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926080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 · 개념 학습 6단계 · 학습 팩 구성과 학습 방법 (top-down)</a:t>
            </a:r>
            <a:endParaRPr lang="ko-KR" alt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7947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26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794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이 아이디어와 기술을 찾았나</a:t>
            </a:r>
            <a:endParaRPr lang="ko-KR" alt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794760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릴스 · 레퍼런스 화면 · 학습법 조사 · 디자인 변천 · 손 추적 · 기술 선택</a:t>
            </a:r>
            <a:endParaRPr lang="ko-KR" alt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663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26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46634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도구를 어떻게 활용했나</a:t>
            </a:r>
            <a:endParaRPr lang="ko-KR" alt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663440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 · 대표 사례: 손 입력 · 보조 사례 · 코드 공부·검증</a:t>
            </a:r>
            <a:endParaRPr lang="ko-KR" alt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5532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26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55321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endParaRPr lang="ko-KR" alt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5532120"/>
            <a:ext cx="5333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 · 한계 · 다음에 확인할 것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8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CF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Why</a:t>
            </a:r>
            <a:endParaRPr lang="ko-KR" alt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3D9BFF"/>
          </a:solidFill>
          <a:ln w="12700">
            <a:solidFill>
              <a:srgbClr val="3D9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D6E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3D9BFF"/>
          </a:solidFill>
          <a:ln w="12700">
            <a:solidFill>
              <a:srgbClr val="3D9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D6E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3D9BFF"/>
          </a:solidFill>
          <a:ln w="12700">
            <a:solidFill>
              <a:srgbClr val="3D9B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D6E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3D9BFF"/>
          </a:solidFill>
          <a:ln w="12700">
            <a:solidFill>
              <a:srgbClr val="3D9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D6E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0" y="1554480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재미있는 새 콘텐츠보다,</a:t>
            </a:r>
            <a:endParaRPr lang="ko-KR" alt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214884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제게 실제로 도움이 되는 도구를</a:t>
            </a:r>
            <a:endParaRPr lang="ko-KR" alt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24612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과제의 참고 사례들은 천을 잡아 늘리고, 현실을 찢는 것처럼 새롭고 재미있는 경험에 초점이 있었습니다.</a:t>
            </a:r>
            <a:endParaRPr lang="ko-KR" altLang="en-US" sz="1500" dirty="0"/>
          </a:p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대학원 진학을 준비하며, 가고 싶은 연구실의 논문을 공부하는 데 실제로 쓸 수 있는 것을 만들고 싶었습니다.</a:t>
            </a:r>
            <a:endParaRPr lang="ko-KR" altLang="en-US" sz="1500" dirty="0"/>
          </a:p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 쓰임새를 찾다가 연구실 자료를 손으로 탐색하는 인스타그램 릴스를 발견했습니다.</a:t>
            </a:r>
            <a:endParaRPr lang="ko-KR" alt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0749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200" dirty="0">
                <a:solidFill>
                  <a:srgbClr val="CFE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AI(Claude)가 추천한 '바닥을 누르면 빛의 파동이 퍼지는 정원'도 같은 이유로 버렸습니다.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What I made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잡고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펴면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공부할 기초까지 펼쳐집니다</a:t>
            </a:r>
            <a:endParaRPr lang="ko-KR" alt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인터랙션은 하나  </a:t>
            </a:r>
            <a:pPr eaLnBrk="0" indent="0" marL="0">
              <a:lnSpc>
                <a:spcPct val="120000"/>
              </a:lnSpc>
              <a:buNone/>
            </a:pPr>
            <a:r>
              <a:rPr lang="ko-KR" altLang="en-US" sz="12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핀치로 논문을 고르고 손바닥을 펴면, 그 논문을 읽는 데 필요한 개념의 층(연구 기법 · 전공 · 기초)이 펼쳐지고 좌우 패널이 뒤에 뜹니다(STEP 2~3). 은하 돌리기와 주먹(뒤로)은 보조 동작입니다.</a:t>
            </a:r>
            <a:endParaRPr lang="ko-KR" alt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3515258" cy="402336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6" name="Image 0" descr="C:/Users/rnsgu/Immersive_Interaction/evidence/screens/2026-09-30/02-은하-돌려-조준-카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3058058" cy="172015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77240" y="2377440"/>
            <a:ext cx="3058058" cy="1720158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4526280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526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보조</a:t>
            </a:r>
            <a:endParaRPr lang="ko-KR" alt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8463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 손으로 돌리기</a:t>
            </a:r>
            <a:endParaRPr lang="ko-KR" alt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25780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44편이 연도 나선을 이루는 은하. 첫 화면에서 편 손을 좌우로 움직이면 돌아가고, 앞에 온 논문이 아래 카드에 뜹니다.</a:t>
            </a:r>
            <a:endParaRPr lang="ko-KR" alt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38218" y="2148840"/>
            <a:ext cx="3515258" cy="402336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3" name="Image 1" descr="C:/Users/rnsgu/Immersive_Interaction/evidence/screens/2026-09-30/03-논문-선택-빛줄기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818" y="2377440"/>
            <a:ext cx="3058058" cy="172015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566818" y="2377440"/>
            <a:ext cx="3058058" cy="1720158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66818" y="4526280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66818" y="4526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핵심</a:t>
            </a:r>
            <a:endParaRPr lang="ko-KR" alt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4566818" y="48463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핀치 = 선택</a:t>
            </a:r>
            <a:endParaRPr lang="ko-KR" alt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4566818" y="525780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핀치하면 그 논문이 선택되고, 선택한 별에서 그 논문의 개념들로 빛줄기가 뻗습니다.</a:t>
            </a:r>
            <a:endParaRPr lang="ko-KR" alt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8127797" y="2148840"/>
            <a:ext cx="3515258" cy="402336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30" name="Image 2" descr="C:/Users/rnsgu/Immersive_Interaction/evidence/screens/2026-09-30/03b-층-구조-펼침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7" y="2377440"/>
            <a:ext cx="3058058" cy="1720158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8356397" y="2377440"/>
            <a:ext cx="3058058" cy="1720158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356397" y="4526280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356397" y="4526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핵심</a:t>
            </a:r>
            <a:endParaRPr lang="ko-KR" alt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8356397" y="48463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펴서 펼치기</a:t>
            </a:r>
            <a:endParaRPr lang="ko-KR" alt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8356397" y="5257800"/>
            <a:ext cx="30580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손바닥을 펴면 연구 기법 · 전공 · 기초 층이 펼쳐지고 기초가 가장 가까이 옵니다. 좌우 패널은 그 뒤에 뜹니다.</a:t>
            </a:r>
            <a:endParaRPr lang="ko-KR" alt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 PC + 웹캠 + Chrome/Edge   ·   손 하나: 돌리기 = 편 손 · 선택 = 핀치 · 뒤로 = 주먹   ·   손이 안 잡히면 마우스·키보드로 자동 전환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What I made — 구조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내용은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만들고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화면은 A-Frame 컴포넌트로</a:t>
            </a:r>
            <a:endParaRPr lang="ko-KR" alt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554480"/>
            <a:ext cx="466344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5544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미리 준비 · tools/ 의 Node 스크립트 (Claude가 작성, 한 번 실행)</a:t>
            </a:r>
            <a:endParaRPr lang="ko-KR" alt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24855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2057400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 URL</a:t>
            </a:r>
            <a:endParaRPr lang="ko-KR" alt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37744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wrl.onl — 교수님 연구실 홈페이지</a:t>
            </a:r>
            <a:endParaRPr lang="ko-KR" alt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034208" y="192024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alt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18256" y="1920240"/>
            <a:ext cx="24855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601136" y="2057400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fetch-papers.mjs</a:t>
            </a:r>
            <a:endParaRPr lang="ko-KR" alt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601136" y="237744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페이지를 돌며 DOI 44개를 정규식으로 추출</a:t>
            </a:r>
            <a:endParaRPr lang="ko-KR" alt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903824" y="192024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alt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87872" y="1920240"/>
            <a:ext cx="24855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70752" y="2057400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OpenAlex API</a:t>
            </a:r>
            <a:endParaRPr lang="ko-KR" alt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70752" y="237744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DOI로 제목·연도·학회·초록 조회</a:t>
            </a:r>
            <a:endParaRPr lang="ko-KR" alt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73439" y="192024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alt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57487" y="1920240"/>
            <a:ext cx="2485568" cy="960120"/>
          </a:xfrm>
          <a:prstGeom prst="roundRect">
            <a:avLst>
              <a:gd name="adj" fmla="val 7619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40367" y="2057400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CLI 생성</a:t>
            </a:r>
            <a:endParaRPr lang="ko-KR" alt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340367" y="237744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그래프 90 · 개념 카드 90 · 논문별 학습 경로 44</a:t>
            </a:r>
            <a:endParaRPr lang="ko-KR" alt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 페이지에 적힌 DOI를 그대로 모아 논문 DB에서 조회해 44편 모두 정확히 맞았고, URL만 바꾸면 다른 교수님도 됩니다. 유사 논문은 AI가 아니라 논문 DB(Semantic Scholar, 부족하면 Crossref)에서.</a:t>
            </a:r>
            <a:endParaRPr lang="ko-KR" alt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3611880"/>
            <a:ext cx="667512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61188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실행 · source/ — index.html에 A-Frame 엔티티·컴포넌트로 선언, 서버 없음 (GitHub Pages)</a:t>
            </a:r>
            <a:endParaRPr lang="ko-KR" alt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11094415" cy="2514600"/>
          </a:xfrm>
          <a:prstGeom prst="roundRect">
            <a:avLst>
              <a:gd name="adj" fmla="val 2909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4160520"/>
            <a:ext cx="2522144" cy="2057400"/>
          </a:xfrm>
          <a:prstGeom prst="roundRect">
            <a:avLst>
              <a:gd name="adj" fmla="val 3556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1832" y="4325112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hand-cursor</a:t>
            </a:r>
            <a:endParaRPr lang="ko-KR" alt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4846320"/>
            <a:ext cx="219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5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웹캠 → MediaPipe Gesture Recognizer → 커서·핀치·편 손·주먹, 누른 순간 번쩍(press-feedback)</a:t>
            </a:r>
            <a:endParaRPr lang="ko-KR" alt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82264" y="4160520"/>
            <a:ext cx="2522144" cy="2057400"/>
          </a:xfrm>
          <a:prstGeom prst="roundRect">
            <a:avLst>
              <a:gd name="adj" fmla="val 3556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46856" y="4325112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paper-galaxy</a:t>
            </a:r>
            <a:endParaRPr lang="ko-KR" alt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3646856" y="4846320"/>
            <a:ext cx="219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5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코어: 논문 은하(연도 = 나선, 주변 점 = 개념) + 조준 카드</a:t>
            </a:r>
            <a:endParaRPr lang="ko-KR" alt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87288" y="4160520"/>
            <a:ext cx="2522144" cy="2057400"/>
          </a:xfrm>
          <a:prstGeom prst="roundRect">
            <a:avLst>
              <a:gd name="adj" fmla="val 3556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51880" y="4325112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pullable · concept-stack</a:t>
            </a:r>
            <a:endParaRPr lang="ko-KR" alt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351880" y="4846320"/>
            <a:ext cx="219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5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잡고 손 펴기 → stack-layer · concept-node 층이 다가옴</a:t>
            </a:r>
            <a:endParaRPr lang="ko-KR" alt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892311" y="4160520"/>
            <a:ext cx="2522144" cy="2057400"/>
          </a:xfrm>
          <a:prstGeom prst="roundRect">
            <a:avLst>
              <a:gd name="adj" fmla="val 3556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056903" y="4325112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· study-panel</a:t>
            </a:r>
            <a:endParaRPr lang="ko-KR" alt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056903" y="4846320"/>
            <a:ext cx="219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5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 패널 4장, 상세 창의 학습 단계 ①~⑥ (수식은 KaTeX)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Result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</a:t>
            </a:r>
            <a:endParaRPr lang="ko-KR" alt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91440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altLang="en-US" sz="12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 · gunhyeok0803.github.io/Immersive_Interaction</a:t>
            </a:r>
            <a:endParaRPr lang="ko-KR" altLang="en-US" sz="1200" dirty="0"/>
          </a:p>
        </p:txBody>
      </p:sp>
      <p:pic>
        <p:nvPicPr>
          <p:cNvPr id="15" name="Image 0" descr="C:/Users/rnsgu/Immersive_Interaction/evidence/screens/2026-09-30/01-첫화면-논문-은하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498080" cy="421767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1691640"/>
            <a:ext cx="7498080" cy="4217670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600075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화면: 논문 44편의 은하 (가운데 2016 → 바깥 2026). 처음 켜면 점들이 가운데서 퍼져 나감</a:t>
            </a:r>
            <a:endParaRPr lang="ko-KR" alt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412480" y="169164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41080" y="18562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44편</a:t>
            </a:r>
            <a:endParaRPr lang="ko-KR" alt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86410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논문 = 은하의 별</a:t>
            </a:r>
            <a:endParaRPr lang="ko-KR" alt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2724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 페이지 DOI → OpenAlex</a:t>
            </a:r>
            <a:endParaRPr lang="ko-KR" alt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412480" y="32461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41080" y="34107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90개</a:t>
            </a:r>
            <a:endParaRPr lang="ko-KR" alt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8641080" y="4023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개념, 선수 관계로 연결</a:t>
            </a:r>
            <a:endParaRPr lang="ko-KR" alt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4279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27 · 전공 37 · 연구 기법 26</a:t>
            </a:r>
            <a:endParaRPr lang="ko-KR" alt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412480" y="48006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41080" y="49651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</a:t>
            </a:r>
            <a:endParaRPr lang="ko-KR" alt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8641080" y="5577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동작</a:t>
            </a:r>
            <a:endParaRPr lang="ko-KR" alt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58338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핀치 = 선택 · 편 손 = 돌리기·펼치기 · 주먹 = 뒤로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Result — 학습 화면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대신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단계씩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넘기는 개념 학습</a:t>
            </a:r>
            <a:endParaRPr lang="ko-KR" alt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altLang="en-US" sz="12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찾기는 3D, 공부는 2D 패널  </a:t>
            </a:r>
            <a:pPr eaLnBrk="0"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공부할지는 3D로 탐색하지만, 실제 공부에는 필기·암기처럼 손을 멈춰야 하는 순간이 있어 학습 화면은 손 움직임에 반응하지 않고 핀치로만 넘기는 2D 패널로 구성했습니다. 손으로는 스크롤이 어려워 카드를 6단계로 나눠 한 화면에 한 단계씩 보여 줍니다.</a:t>
            </a:r>
            <a:endParaRPr lang="ko-KR" altLang="en-US" sz="1250" dirty="0"/>
          </a:p>
        </p:txBody>
      </p:sp>
      <p:pic>
        <p:nvPicPr>
          <p:cNvPr id="16" name="Image 0" descr="C:/Users/rnsgu/Immersive_Interaction/evidence/screens/2026-09-30/05-개념카드-단계1-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336" y="2011680"/>
            <a:ext cx="3310128" cy="1861947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56336" y="2011680"/>
            <a:ext cx="3310128" cy="1861947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6336" y="3965067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56336" y="3965067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왜</a:t>
            </a:r>
            <a:endParaRPr lang="ko-KR" alt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404976" y="3965067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논문에서 왜 필요한지 + 먼저 알아야 할 개념</a:t>
            </a:r>
            <a:endParaRPr lang="ko-KR" altLang="en-US" sz="950" dirty="0"/>
          </a:p>
        </p:txBody>
      </p:sp>
      <p:pic>
        <p:nvPicPr>
          <p:cNvPr id="21" name="Image 1" descr="C:/Users/rnsgu/Immersive_Interaction/evidence/screens/2026-09-30/05-개념카드-단계2-직관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784" y="2011680"/>
            <a:ext cx="3310128" cy="186194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440784" y="2011680"/>
            <a:ext cx="3310128" cy="1861947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440784" y="3965067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440784" y="3965067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직관</a:t>
            </a:r>
            <a:endParaRPr lang="ko-KR" alt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5080864" y="3965067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 감 잡기</a:t>
            </a:r>
            <a:endParaRPr lang="ko-KR" altLang="en-US" sz="950" dirty="0"/>
          </a:p>
        </p:txBody>
      </p:sp>
      <p:pic>
        <p:nvPicPr>
          <p:cNvPr id="26" name="Image 2" descr="C:/Users/rnsgu/Immersive_Interaction/evidence/screens/2026-09-30/05-개념카드-단계3-정의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232" y="2011680"/>
            <a:ext cx="3310128" cy="1861947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025232" y="2011680"/>
            <a:ext cx="3310128" cy="1861947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25232" y="3965067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025232" y="3965067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정의·식</a:t>
            </a:r>
            <a:endParaRPr lang="ko-KR" alt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8848192" y="3965067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정의·식 (식이 없으면 정의·구조)</a:t>
            </a:r>
            <a:endParaRPr lang="ko-KR" altLang="en-US" sz="950" dirty="0"/>
          </a:p>
        </p:txBody>
      </p:sp>
      <p:pic>
        <p:nvPicPr>
          <p:cNvPr id="31" name="Image 3" descr="C:/Users/rnsgu/Immersive_Interaction/evidence/screens/2026-09-30/05-개념카드-단계4-핵심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36" y="4251960"/>
            <a:ext cx="3310128" cy="1861947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856336" y="4251960"/>
            <a:ext cx="3310128" cy="1861947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56336" y="6205347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56336" y="6205347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핵심</a:t>
            </a:r>
            <a:endParaRPr lang="ko-KR" alt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496416" y="6205347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기억할 점</a:t>
            </a:r>
            <a:endParaRPr lang="ko-KR" altLang="en-US" sz="950" dirty="0"/>
          </a:p>
        </p:txBody>
      </p:sp>
      <p:pic>
        <p:nvPicPr>
          <p:cNvPr id="36" name="Image 4" descr="C:/Users/rnsgu/Immersive_Interaction/evidence/screens/2026-09-30/05-개념카드-단계5-답-확인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784" y="4251960"/>
            <a:ext cx="3310128" cy="1861947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4440784" y="4251960"/>
            <a:ext cx="3310128" cy="1861947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440784" y="6205347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4440784" y="6205347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풀어 보기</a:t>
            </a:r>
            <a:endParaRPr lang="ko-KR" alt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5355184" y="6205347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문제마다 한 화면, 풀이는 핀치로 열기</a:t>
            </a:r>
            <a:endParaRPr lang="ko-KR" altLang="en-US" sz="950" dirty="0"/>
          </a:p>
        </p:txBody>
      </p:sp>
      <p:pic>
        <p:nvPicPr>
          <p:cNvPr id="41" name="Image 5" descr="C:/Users/rnsgu/Immersive_Interaction/evidence/screens/2026-09-30/05-개념카드-단계6-연결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5232" y="4251960"/>
            <a:ext cx="3310128" cy="1861947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8025232" y="4251960"/>
            <a:ext cx="3310128" cy="1861947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8025232" y="6205347"/>
            <a:ext cx="54864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8025232" y="6205347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연결</a:t>
            </a:r>
            <a:endParaRPr lang="ko-KR" alt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8665312" y="6205347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· 이어지는 개념 · 이 개념을 쓰는 논문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Result — 학습 팩 구성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팩: 논문에서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기초까지 이어지는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개념 그래프</a:t>
            </a:r>
            <a:endParaRPr lang="ko-KR" alt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단위는 논문이 아니라 개념입니다. 논문은 '이 논문을 읽으려면 무엇을 공부해야 하나'로 들어가는 입구입니다.</a:t>
            </a:r>
            <a:endParaRPr lang="ko-KR" alt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1874520"/>
            <a:ext cx="36576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8745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ko-KR" alt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24028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23682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그래프</a:t>
            </a:r>
            <a:endParaRPr lang="ko-KR" alt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697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90개 = L1 기초 27 · L2 전공 37 · L3 연구 기법 26. 개념마다 '모르면 이해할 수 없는' 직접 선수 개념 0~4개, 순환은 코드로 제거</a:t>
            </a:r>
            <a:endParaRPr lang="ko-KR" alt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364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200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ko-KR" alt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36941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논문별 학습 경로</a:t>
            </a:r>
            <a:endParaRPr lang="ko-KR" alt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023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44편마다 필요한 개념 6~12개를 상위 개념(L3, 없으면 L2)에서 기초(L1)로 내려가는 순서로. 개념마다 '이 논문에서 하는 일' 한 문장 (예: 자세 궤적을 주파수 성분으로 바꿔 비교)</a:t>
            </a:r>
            <a:endParaRPr lang="ko-KR" alt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4690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200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ko-KR" alt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020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카드 6단계</a:t>
            </a:r>
            <a:endParaRPr lang="ko-KR" alt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49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왜 → ② 직관 → ③ 정의·식 또는 정의·구조 → ④ 핵심 → ⑤ 풀어 보기 → ⑥ 연결. 식 51개 · 코드 29개만 (필요할 때만), 문제 계산 54 · 보기 고르기 145</a:t>
            </a:r>
            <a:endParaRPr lang="ko-KR" alt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9320" y="1874520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89320" y="1874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채택한 학습 방법</a:t>
            </a:r>
            <a:endParaRPr lang="ko-KR" alt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2240280"/>
            <a:ext cx="565373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217920" y="233172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Top-down 학습</a:t>
            </a:r>
            <a:endParaRPr lang="ko-KR" alt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591495" y="23317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altLang="en-US" sz="9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요구</a:t>
            </a:r>
            <a:endParaRPr lang="ko-KR" alt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2624328"/>
            <a:ext cx="5196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alt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논문·연구 기법(L3)에서 시작해 전공(L2) → 기초(L1)로 내려감. 아는 개념은 건너뛰고 막히는 곳에서만 아래로. 층 펼치기와 학습 경로 모두 이 순서</a:t>
            </a:r>
            <a:endParaRPr lang="ko-KR" alt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989320" y="3227832"/>
            <a:ext cx="565373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217920" y="3319272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 = 학부 1~2학년</a:t>
            </a:r>
            <a:endParaRPr lang="ko-KR" alt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0591495" y="33192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altLang="en-US" sz="9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요구</a:t>
            </a:r>
            <a:endParaRPr lang="ko-KR" alt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3611880"/>
            <a:ext cx="5196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alt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아래 층(L1)은 미적분·선형대수·확률·일반물리 수준, 여기서 멈춤. 어떤 개념도 그 선수 개념보다 먼저 나오도록 44개 경로 모두 코드로 검사</a:t>
            </a:r>
            <a:endParaRPr lang="ko-KR" alt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989320" y="4215384"/>
            <a:ext cx="565373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217920" y="4306824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인출 연습</a:t>
            </a:r>
            <a:endParaRPr lang="ko-KR" alt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4306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altLang="en-US" sz="9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조사</a:t>
            </a:r>
            <a:endParaRPr lang="ko-KR" alt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217920" y="4599432"/>
            <a:ext cx="5196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alt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풀이는 가려 두고 먼저 떠올린 뒤 핀치로 확인. 보기 고르기는 고르는 즉시 정답과 오답 이유 (Karpicke &amp; Roediger, Science 2008)</a:t>
            </a:r>
            <a:endParaRPr lang="ko-KR" alt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989320" y="5202936"/>
            <a:ext cx="565373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217920" y="5294376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성격에 맞는 형식</a:t>
            </a:r>
            <a:endParaRPr lang="ko-KR" alt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0591495" y="52943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r" indent="0" marL="0">
              <a:buNone/>
            </a:pPr>
            <a:r>
              <a:rPr lang="ko-KR" altLang="en-US" sz="9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피드백</a:t>
            </a:r>
            <a:endParaRPr lang="ko-KR" alt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217920" y="5586984"/>
            <a:ext cx="5196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ko-KR" altLang="en-US" sz="98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식이 핵심이면 표준 식·계산 문제, 구조가 핵심이면 구성 요소·흐름·상황 판단 문제 (억지 식 금지)</a:t>
            </a:r>
            <a:endParaRPr lang="ko-KR" alt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Discovery — 출발점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릴스를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쓰지 않은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</a:t>
            </a:r>
            <a:endParaRPr lang="ko-KR" alt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2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자료를 손으로 뒤지는 '쓸모 있는' 인터랙션이라 골랐습니다. 다만 릴스는 '어느 연구실로 갈까'를, 저는 '고른 연구실을 어떻게 공부할까'를 풀고 싶었습니다.</a:t>
            </a:r>
            <a:endParaRPr lang="ko-KR" altLang="en-US" sz="1250" dirty="0"/>
          </a:p>
        </p:txBody>
      </p:sp>
      <p:pic>
        <p:nvPicPr>
          <p:cNvPr id="15" name="Image 0" descr="C:/Users/rnsgu/AppData/Local/Temp/claude/C--Users-rnsgu-Immersive-Interaction/94f42bbf-d5e6-4aff-92e5-76f15327f75f/scratchpad/deck/reel-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2119481" cy="3794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48640" y="59710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Instagram @chloe_et_al</a:t>
            </a:r>
            <a:endParaRPr lang="ko-KR" altLang="en-US" sz="950" dirty="0"/>
          </a:p>
          <a:p>
            <a:pPr eaLnBrk="0" indent="0" marL="0">
              <a:buNone/>
            </a:pPr>
            <a:r>
              <a:rPr lang="ko-KR" altLang="en-US" sz="950" u="sng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instagram.com/reel/DdflWw2pKoR</a:t>
            </a:r>
            <a:endParaRPr lang="ko-KR" alt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8161" y="2103120"/>
          <a:ext cx="91440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286000"/>
                <a:gridCol w="3762854"/>
              </a:tblGrid>
              <a:tr h="64008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릴스의 방식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 선택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0084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쓰지 않은 이유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 Astra에 크롤링 스키마를 주고 3,246개 연구실 수집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교수님 연구실 페이지의 DOI → OpenAlex 조회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DOI가 있어 AI 추출 없이 44편 모두 정확히 매칭. 이름 검색은 동명이인이 섞였음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Higgsfield(UI·웹빌더 API)로 만든 핸드트래킹 시각화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A-Frame + MediaPipe로 직접 구현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조건(A-Frame, 직접 체험). 판정을 직접 다뤄야 손으로 쓸 때의 문제를 고칠 수 있음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수·h-index·논문 수로 연구실 비교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대신 읽기와 공부 (개념 학습)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비교는 연구실을 고를 때. 고른 뒤에는 논문을 이해하는 게 필요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공저 관계도 그래프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사이에 놓인 공유 개념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교수님 한 분 안에서는 공저선이 적음. 대신 '같은 개념을 쓰는 논문'을 이음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연도별 논문 그래프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 나선 은하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가져와 3D 나선으로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2988161" y="6035040"/>
            <a:ext cx="8654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5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교수님이 과제로 주신 X 사례 5개</a:t>
            </a:r>
            <a:pPr eaLnBrk="0" indent="0" marL="0">
              <a:buNone/>
            </a:pPr>
            <a:r>
              <a:rPr lang="ko-KR" altLang="en-US" sz="10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'브라우저에서 웹캠 손 추적이 되는가'를 확인하고, P1 작성자의 공개 코드를 레퍼런스로 썼습니다.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Discovery — 레퍼런스 실제 화면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레퍼런스에서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가져왔나</a:t>
            </a:r>
            <a:endParaRPr lang="ko-KR" altLang="en-US" sz="3000" dirty="0"/>
          </a:p>
        </p:txBody>
      </p:sp>
      <p:pic>
        <p:nvPicPr>
          <p:cNvPr id="14" name="Image 0" descr="C:/Users/rnsgu/AppData/Local/Temp/claude/C--Users-rnsgu-Immersive-Interaction/94f42bbf-d5e6-4aff-92e5-76f15327f75f/scratchpad/deck/ref-jarvis-shor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3314"/>
            <a:ext cx="1783080" cy="314680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1623314"/>
            <a:ext cx="1783080" cy="3146806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879848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879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YouTube 쇼츠</a:t>
            </a:r>
            <a:endParaRPr lang="ko-KR" alt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209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자비스 느낌 (방향)</a:t>
            </a:r>
            <a:endParaRPr lang="ko-KR" alt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51992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웹캠 손으로 PC를 다루는 자비스형 화면 → '가운데 대상, 옆에 정보' HUD 배치</a:t>
            </a:r>
            <a:endParaRPr lang="ko-KR" altLang="en-US" sz="950" dirty="0"/>
          </a:p>
        </p:txBody>
      </p:sp>
      <p:sp>
        <p:nvSpPr>
          <p:cNvPr id="20" name="Text 17">
            <a:hlinkClick r:id="rId2" tooltip=""/>
          </p:cNvPr>
          <p:cNvSpPr txBox="1"/>
          <p:nvPr/>
        </p:nvSpPr>
        <p:spPr>
          <a:xfrm>
            <a:off x="548640" y="6446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750" u="sng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youtube.com/shorts/vUdBDCisdZY</a:t>
            </a:r>
            <a:endParaRPr lang="ko-KR" altLang="en-US" sz="750" dirty="0"/>
          </a:p>
        </p:txBody>
      </p:sp>
      <p:pic>
        <p:nvPicPr>
          <p:cNvPr id="21" name="Image 1" descr="C:/Users/rnsgu/AppData/Local/Temp/claude/C--Users-rnsgu-Immersive-Interaction/94f42bbf-d5e6-4aff-92e5-76f15327f75f/scratchpad/deck/ref-tiktok-jarvi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298" y="1600200"/>
            <a:ext cx="1783080" cy="31699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2692298" y="1600200"/>
            <a:ext cx="1783080" cy="3169920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692298" y="4879848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692298" y="48798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TikTok</a:t>
            </a:r>
            <a:endParaRPr lang="ko-KR" alt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2692298" y="5209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은하 (3D 코어)</a:t>
            </a:r>
            <a:endParaRPr lang="ko-KR" alt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692298" y="551992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점들이 퍼지는 연출·손으로 돌리기 → 작은 점을 겨누는 대신 돌려서 앞에 온 논문 선택</a:t>
            </a:r>
            <a:endParaRPr lang="ko-KR" altLang="en-US" sz="950" dirty="0"/>
          </a:p>
        </p:txBody>
      </p:sp>
      <p:sp>
        <p:nvSpPr>
          <p:cNvPr id="27" name="Text 23">
            <a:hlinkClick r:id="rId4" tooltip=""/>
          </p:cNvPr>
          <p:cNvSpPr txBox="1"/>
          <p:nvPr/>
        </p:nvSpPr>
        <p:spPr>
          <a:xfrm>
            <a:off x="2692298" y="6446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750" u="sng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tiktok.com/@tectimmy</a:t>
            </a:r>
            <a:endParaRPr lang="ko-KR" altLang="en-US" sz="750" dirty="0"/>
          </a:p>
        </p:txBody>
      </p:sp>
      <p:pic>
        <p:nvPicPr>
          <p:cNvPr id="28" name="Image 2" descr="C:/Users/rnsgu/AppData/Local/Temp/claude/C--Users-rnsgu-Immersive-Interaction/94f42bbf-d5e6-4aff-92e5-76f15327f75f/scratchpad/deck/ref-p1-dem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5957" y="2831151"/>
            <a:ext cx="3383280" cy="1938969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835957" y="2831151"/>
            <a:ext cx="3383280" cy="1938969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835957" y="4879848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835957" y="48798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X 사례 P1 @measure_plan 공개 코드</a:t>
            </a:r>
            <a:endParaRPr lang="ko-KR" alt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4835957" y="5209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뼈대 · 연속 조작</a:t>
            </a:r>
            <a:endParaRPr lang="ko-KR" alt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4835957" y="551992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뼈대를 화면에 그리고 정밀 조준 대신 연속 조작 → 카메라 미리보기 위 손 뼈대</a:t>
            </a:r>
            <a:endParaRPr lang="ko-KR" altLang="en-US" sz="950" dirty="0"/>
          </a:p>
        </p:txBody>
      </p:sp>
      <p:sp>
        <p:nvSpPr>
          <p:cNvPr id="34" name="Text 29">
            <a:hlinkClick r:id="rId6" tooltip=""/>
          </p:cNvPr>
          <p:cNvSpPr txBox="1"/>
          <p:nvPr/>
        </p:nvSpPr>
        <p:spPr>
          <a:xfrm>
            <a:off x="4835957" y="6446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750" u="sng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github.com/collidingScopes/threejs-handtracking-101</a:t>
            </a:r>
            <a:endParaRPr lang="ko-KR" altLang="en-US" sz="750" dirty="0"/>
          </a:p>
        </p:txBody>
      </p:sp>
      <p:pic>
        <p:nvPicPr>
          <p:cNvPr id="35" name="Image 3" descr="C:/Users/rnsgu/AppData/Local/Temp/claude/C--Users-rnsgu-Immersive-Interaction/94f42bbf-d5e6-4aff-92e5-76f15327f75f/scratchpad/deck/ref-gesture-do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9815" y="3199378"/>
            <a:ext cx="3063240" cy="1570742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8579815" y="3199378"/>
            <a:ext cx="3063240" cy="1570742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579815" y="4879848"/>
            <a:ext cx="274320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579815" y="4879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Gesture Recognizer 문서</a:t>
            </a:r>
            <a:endParaRPr lang="ko-KR" alt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8579815" y="52090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모양 분류</a:t>
            </a:r>
            <a:endParaRPr lang="ko-KR" alt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8579815" y="551992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Open_Palm · Closed_Fist 같은 손 모양 분류를 제공 → 편 손 = 돌리기·펼치기, 주먹 = 뒤로에 사용</a:t>
            </a:r>
            <a:endParaRPr lang="ko-KR" altLang="en-US" sz="950" dirty="0"/>
          </a:p>
        </p:txBody>
      </p:sp>
      <p:sp>
        <p:nvSpPr>
          <p:cNvPr id="41" name="Text 35">
            <a:hlinkClick r:id="rId8" tooltip=""/>
          </p:cNvPr>
          <p:cNvSpPr txBox="1"/>
          <p:nvPr/>
        </p:nvSpPr>
        <p:spPr>
          <a:xfrm>
            <a:off x="8579815" y="6446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750" u="sng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ai.google.dev/edge/mediapipe/solutions/vision/gesture_recognizer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Discovery — 학습법 조사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찾아온 학습법 4개 중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인출 연습만 그대로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남았습니다</a:t>
            </a:r>
            <a:endParaRPr lang="ko-KR" alt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4813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148132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시킨 것 (9/20)  </a:t>
            </a:r>
            <a:pPr eaLnBrk="0" indent="0" marL="0">
              <a:buNone/>
            </a:pPr>
            <a:r>
              <a:rPr lang="ko-KR" altLang="en-US" sz="1050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“논문을 공부하기에 가장 이상적인 프로세스를 웹에서 검색해서 찾아봐. 그걸 기반으로 학습 카드를 구성하고 물리나 역학 기초지식을 추가해서”</a:t>
            </a:r>
            <a:endParaRPr lang="ko-KR" alt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914400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3200400"/>
                <a:gridCol w="1234440"/>
                <a:gridCol w="3593592"/>
              </a:tblGrid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AI(Claude)가 찾아온 학습법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학습 팩에 넣은 방식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0084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· 지금 어디에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212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인출 연습 — Karpicke &amp; Roediger, Science 2008 (다시 읽기보다 떠올리기가 오래 남음)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카드에 확인 질문, 정답은 가려 둠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풀어 보기: 먼저 풀고 풀이를 펼침, 보기 고르기는 고르는 즉시 정답·오답 이유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212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Bloom 개정 분류 (기억 → 이해 → 적용 → 분석)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질문마다 단계 태그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태그는 뺐고, 6단계 순서(직관·정의 → 풀어 보기 → 연결)에 흐름만 남음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212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Ten simple rules (PLOS CB 2020): 모르는 용어 찾기 · 내 말로 요약 · 비판 질문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키워드 카드, 요약·비판 질문 카드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'모르는 용어 바로 찾기'만 → 논문마다 필요한 개념 경로. 요약·비판 카드는 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b="1" dirty="0">
                          <a:solidFill>
                            <a:srgbClr val="12121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Keshav 3-pass 읽기 (개요 → 이해 → 재구성)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팩을 1·2·3차 읽기 순서로 배치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뺌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95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제가 원한 건 '논문 읽기 순서'가 아니라 '상위 개념 → 기초로 내려가는 학습'이라 버림</a:t>
                      </a:r>
                      <a:endParaRPr lang="ko-KR" alt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5000"/>
              </a:lnSpc>
              <a:buNone/>
            </a:pPr>
            <a:r>
              <a:rPr lang="ko-KR" altLang="en-US" sz="11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더한 요구  </a:t>
            </a:r>
            <a:pPr eaLnBrk="0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물리·역학 기초 필수 → 기초 층에 강체 운동학 · 열전달 · 파동 · 음향. top-down은 '상위 개념에서 기초로 내려가는 학습'으로 바로잡음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Discovery — 디자인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 → 카드 → 서가 → HUD →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은하</a:t>
            </a:r>
            <a:endParaRPr lang="ko-KR" alt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시안은 다섯 가지였습니다. 매번 직접 써 보고 '무엇이 마음에 안 드는지'를 말로 정리해 다음 안을 골랐습니다.</a:t>
            </a:r>
            <a:endParaRPr lang="ko-KR" alt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1965960"/>
            <a:ext cx="2072579" cy="3054062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6" name="Image 0" descr="C:/Users/rnsgu/Immersive_Interaction/evidence/screens/history/02-연도축-구-노드-8ea61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75688"/>
            <a:ext cx="1853123" cy="104238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58368" y="2075688"/>
            <a:ext cx="1853123" cy="1042382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23694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23694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· 구</a:t>
            </a:r>
            <a:endParaRPr lang="ko-KR" alt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3556982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연도축 위의 구</a:t>
            </a:r>
            <a:endParaRPr lang="ko-KR" alt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401418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95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이유  </a:t>
            </a:r>
            <a:pPr eaLnBrk="0" indent="0" marL="0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제목이 안 보이고 작은 구는 겨누기 어려움</a:t>
            </a:r>
            <a:endParaRPr lang="ko-KR" alt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804099" y="1965960"/>
            <a:ext cx="2072579" cy="3054062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3" name="Image 1" descr="C:/Users/rnsgu/Immersive_Interaction/evidence/screens/history/03-글래스-카드-58c589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827" y="2075688"/>
            <a:ext cx="1853123" cy="104238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2913827" y="2075688"/>
            <a:ext cx="1853123" cy="1042382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913827" y="3236942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913827" y="323694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· 글래스 카드</a:t>
            </a:r>
            <a:endParaRPr lang="ko-KR" alt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2913827" y="3556982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후보 5개 비교 → 카드</a:t>
            </a:r>
            <a:endParaRPr lang="ko-KR" alt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2913827" y="401418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95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이유  </a:t>
            </a:r>
            <a:pPr eaLnBrk="0" indent="0" marL="0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'AI가 만든 화면'처럼 보임</a:t>
            </a:r>
            <a:endParaRPr lang="ko-KR" alt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059558" y="1965960"/>
            <a:ext cx="2072579" cy="3054062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30" name="Image 2" descr="C:/Users/rnsgu/Immersive_Interaction/evidence/screens/history/06-서가-학습팩-마지막커밋-3d6757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286" y="2075688"/>
            <a:ext cx="1853123" cy="104238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169286" y="2075688"/>
            <a:ext cx="1853123" cy="1042382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169286" y="323694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169286" y="323694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 · 서가</a:t>
            </a:r>
            <a:endParaRPr lang="ko-KR" alt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169286" y="3556982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당겨 뽑기</a:t>
            </a:r>
            <a:endParaRPr lang="ko-KR" alt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5169286" y="401418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95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이유  </a:t>
            </a:r>
            <a:pPr eaLnBrk="0" indent="0" marL="0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논문 + 옆에 정보(자비스)를 원함</a:t>
            </a:r>
            <a:endParaRPr lang="ko-KR" alt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7315017" y="1965960"/>
            <a:ext cx="2072579" cy="3054062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37" name="Image 3" descr="C:/Users/rnsgu/AppData/Local/Temp/claude/C--Users-rnsgu-Immersive-Interaction/94f42bbf-d5e6-4aff-92e5-76f15327f75f/scratchpad/deck/ring-h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45" y="2075688"/>
            <a:ext cx="1853123" cy="104238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7424745" y="2075688"/>
            <a:ext cx="1853123" cy="1042382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424745" y="3236942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7424745" y="323694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v4 · 코어 링 HUD</a:t>
            </a:r>
            <a:endParaRPr lang="ko-KR" alt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7424745" y="3556982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 둘레의 논문 칩</a:t>
            </a:r>
            <a:endParaRPr lang="ko-KR" alt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424745" y="401418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95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이유  </a:t>
            </a:r>
            <a:pPr eaLnBrk="0" indent="0" marL="0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평면적 · 손·3D를 쓰는 이유가 약함</a:t>
            </a:r>
            <a:endParaRPr lang="ko-KR" alt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9570476" y="1965960"/>
            <a:ext cx="2072579" cy="3054062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44" name="Image 4" descr="C:/Users/rnsgu/Immersive_Interaction/evidence/screens/2026-09-30/01-첫화면-논문-은하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0204" y="2075688"/>
            <a:ext cx="1853123" cy="1042382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9680204" y="2075688"/>
            <a:ext cx="1853123" cy="1042382"/>
          </a:xfrm>
          <a:prstGeom prst="rect">
            <a:avLst/>
          </a:prstGeom>
          <a:ln w="6350">
            <a:solidFill>
              <a:srgbClr val="D0D0D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9680204" y="3236942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9680204" y="323694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· 논문 은하</a:t>
            </a:r>
            <a:endParaRPr lang="ko-KR" alt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9680204" y="3556982"/>
            <a:ext cx="1853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 나선 + 조준 카드</a:t>
            </a:r>
            <a:endParaRPr lang="ko-KR" alt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9680204" y="401418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95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이유  </a:t>
            </a:r>
            <a:pPr eaLnBrk="0" indent="0" marL="0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3D가 뜻을 가짐(깊이 = 시간·지식의 층)</a:t>
            </a:r>
            <a:endParaRPr lang="ko-KR" altLang="en-US" sz="950" dirty="0"/>
          </a:p>
        </p:txBody>
      </p:sp>
      <p:sp>
        <p:nvSpPr>
          <p:cNvPr id="50" name="Text 43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사이 '시맨틱 줌 지식 지도'와 '손으로 돌리는 홀로그램'도 만들었지만 '가운데가 논문인지 모르겠다 · 공부에 쓸모가 있나'로 버렸습니다. 교수님 입장에서 점검해 보니 '마우스로도 똑같지 않나, 왜 3D인가'에 답이 없어 은하와 손 펴기로 다시 만들었습니다.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Discovery — 손 추적 기술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위에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손 입력</a:t>
            </a:r>
            <a:endParaRPr lang="ko-KR" alt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건 커서 하나와 손 모양 세 가지(핀치·편 손·주먹). 웹캠 영상에서 손 관절 21점을 받아 직접 해석했습니다.</a:t>
            </a:r>
            <a:endParaRPr lang="ko-KR" alt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011680"/>
            <a:ext cx="1711909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194560"/>
            <a:ext cx="14375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웹캠</a:t>
            </a:r>
            <a:endParaRPr lang="ko-KR" alt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606040"/>
            <a:ext cx="1437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50" b="1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640×480, 한 손</a:t>
            </a:r>
            <a:endParaRPr lang="ko-KR" alt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907792"/>
            <a:ext cx="1437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getUserMedia</a:t>
            </a:r>
            <a:endParaRPr lang="ko-KR" alt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25141" y="2011680"/>
            <a:ext cx="1711909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62301" y="2194560"/>
            <a:ext cx="14375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</a:t>
            </a:r>
            <a:endParaRPr lang="ko-KR" alt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62301" y="2606040"/>
            <a:ext cx="1437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50" b="1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안에서</a:t>
            </a:r>
            <a:endParaRPr lang="ko-KR" alt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562301" y="2907792"/>
            <a:ext cx="1437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또는 CPU</a:t>
            </a:r>
            <a:endParaRPr lang="ko-KR" alt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01642" y="2011680"/>
            <a:ext cx="1711909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8802" y="2194560"/>
            <a:ext cx="14375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</a:t>
            </a:r>
            <a:endParaRPr lang="ko-KR" alt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38802" y="2606040"/>
            <a:ext cx="1437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50" b="1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Gesture Recognizer</a:t>
            </a:r>
            <a:endParaRPr lang="ko-KR" alt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438802" y="2907792"/>
            <a:ext cx="1437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관절 21점 + 손 모양</a:t>
            </a:r>
            <a:endParaRPr lang="ko-KR" alt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8144" y="2011680"/>
            <a:ext cx="1711909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15304" y="2194560"/>
            <a:ext cx="14375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</a:t>
            </a:r>
            <a:endParaRPr lang="ko-KR" alt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15304" y="2606040"/>
            <a:ext cx="1437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50" b="1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관절 한 점</a:t>
            </a:r>
            <a:endParaRPr lang="ko-KR" alt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315304" y="2907792"/>
            <a:ext cx="1437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위치 → 화면 커서</a:t>
            </a:r>
            <a:endParaRPr lang="ko-KR" alt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54645" y="2011680"/>
            <a:ext cx="1711909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91805" y="2194560"/>
            <a:ext cx="14375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A-Frame</a:t>
            </a:r>
            <a:endParaRPr lang="ko-KR" alt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191805" y="2606040"/>
            <a:ext cx="1437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50" b="1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 판정 + 가림막</a:t>
            </a:r>
            <a:endParaRPr lang="ko-KR" alt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191805" y="2907792"/>
            <a:ext cx="1437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것만 반응</a:t>
            </a:r>
            <a:endParaRPr lang="ko-KR" alt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931146" y="2011680"/>
            <a:ext cx="1711909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68306" y="2194560"/>
            <a:ext cx="14375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ko-KR" alt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068306" y="2606040"/>
            <a:ext cx="14375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50" b="1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핀치 · 편 손 · 주먹</a:t>
            </a:r>
            <a:endParaRPr lang="ko-KR" alt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068306" y="2907792"/>
            <a:ext cx="1437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· 돌리기 · 뒤로</a:t>
            </a:r>
            <a:endParaRPr lang="ko-KR" alt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3703320"/>
            <a:ext cx="7833547" cy="2331720"/>
          </a:xfrm>
          <a:prstGeom prst="roundRect">
            <a:avLst>
              <a:gd name="adj" fmla="val 3137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868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판정을 눈에 보이게</a:t>
            </a:r>
            <a:endParaRPr lang="ko-KR" alt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68680" y="43434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0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핀치 비율 = 엄지–검지 거리 ÷ 손 크기, 0.28 아래면 클릭, 0.45 위로 벌려야 다음 클릭 (두 번 눌림 방지)</a:t>
            </a:r>
            <a:endParaRPr lang="ko-KR" altLang="en-US" sz="1050" dirty="0"/>
          </a:p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0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 원호: 핀치 진행 · 펼친 정도 · 주먹 닫기(빨강). 누른 순간 대상이 번쩍 + 파문</a:t>
            </a:r>
            <a:endParaRPr lang="ko-KR" altLang="en-US" sz="1050" dirty="0"/>
          </a:p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0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미리보기 위 손 뼈대 (핀치 청록 · 편 손 초록), 진단 칸에 추적 fps · 추론 ms</a:t>
            </a:r>
            <a:endParaRPr lang="ko-KR" altLang="en-US" sz="1050" dirty="0"/>
          </a:p>
        </p:txBody>
      </p:sp>
      <p:pic>
        <p:nvPicPr>
          <p:cNvPr id="42" name="Image 0" descr="C:/Users/rnsgu/AppData/Local/Temp/claude/C--Users-rnsgu-Immersive-Interaction/94f42bbf-d5e6-4aff-92e5-76f15327f75f/scratchpad/deck/handtes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6507" y="3703320"/>
            <a:ext cx="2986548" cy="2331720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8656507" y="6126480"/>
            <a:ext cx="2986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9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프로토타입(9/21): 구 12개 모두 실제 핀치로 선택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Discovery — 기술 선택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쓰고,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버렸나</a:t>
            </a:r>
            <a:endParaRPr lang="ko-KR" alt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2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기술을 많이 쓰기보다, 장비(PC + 웹캠)와 목적(읽고 공부하기)에 맞는 것만 남겼습니다.</a:t>
            </a:r>
            <a:endParaRPr lang="ko-KR" alt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9144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2377440"/>
                <a:gridCol w="3794760"/>
                <a:gridCol w="896112"/>
              </a:tblGrid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고른 것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검토한 대안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0084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고른 이유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고르기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은하를 돌려 앞에 온 논문 + 고정 카드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공간의 점을 직접 겨누기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흔들리는 추적에서 작은 점은 못 겨눔 (이전 홀로그램에서 실패)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판정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 판정 + 가림막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물체만 판정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앞의 층이 손 신호를 막아 뒤의 패널·은하는 반응 안 함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글자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캔버스 텍스처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troika 3D 텍스트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줄바꿈·말줄임·줄 간격을 직접 제어 (troika는 뺌)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학습 내용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HTML 상세 창 + 핀치 → 클릭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3D 안의 텍스트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한글·수식(KaTeX)·버튼을 HTML이 그대로 제공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내용 생성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Codex CLI 사전 생성 (JSON 스키마)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API 실시간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없음, 시연 때 서버 불필요, 발표 전 검토 가능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목록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연구실 페이지 DOI → OpenAlex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검색 · LLM 추출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검색은 동명이인. DOI는 44/44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</a:t>
                      </a:r>
                      <a:endParaRPr lang="ko-KR" alt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AI &amp; Tools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82296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Claude, 학습 내용은 Codex,</a:t>
            </a:r>
            <a:endParaRPr lang="ko-KR" altLang="en-US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판단과 확인</a:t>
            </a:r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제가 했습니다</a:t>
            </a:r>
            <a:endParaRPr lang="ko-KR" alt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3545738" cy="3246120"/>
          </a:xfrm>
          <a:prstGeom prst="roundRect">
            <a:avLst>
              <a:gd name="adj" fmla="val 2254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697480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ko-KR" alt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74720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코드 · 디버깅</a:t>
            </a:r>
            <a:endParaRPr lang="ko-KR" alt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023360"/>
            <a:ext cx="29970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레퍼런스·API 문서 조사, 공개 코드 확인</a:t>
            </a:r>
            <a:endParaRPr lang="ko-KR" altLang="en-US" sz="1150" dirty="0"/>
          </a:p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· 생성 스크립트 · 캡처 도구 작성</a:t>
            </a:r>
            <a:endParaRPr lang="ko-KR" altLang="en-US" sz="1150" dirty="0"/>
          </a:p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측정(진단 칸)·합성 손 테스트·코드 검토</a:t>
            </a:r>
            <a:endParaRPr lang="ko-KR" alt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22978" y="2331720"/>
            <a:ext cx="3545738" cy="3246120"/>
          </a:xfrm>
          <a:prstGeom prst="roundRect">
            <a:avLst>
              <a:gd name="adj" fmla="val 2254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22978" y="2697480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CLI</a:t>
            </a:r>
            <a:endParaRPr lang="ko-KR" alt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322978" y="3474720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내용 생성</a:t>
            </a:r>
            <a:endParaRPr lang="ko-KR" alt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97298" y="4023360"/>
            <a:ext cx="29970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GPT-6-Luna(max), ChatGPT 구독 (API 결제 X)</a:t>
            </a:r>
            <a:endParaRPr lang="ko-KR" altLang="en-US" sz="1150" dirty="0"/>
          </a:p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90 · 카드 90 · 학습 경로 44</a:t>
            </a:r>
            <a:endParaRPr lang="ko-KR" altLang="en-US" sz="1150" dirty="0"/>
          </a:p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실행 + JSON 스키마 강제</a:t>
            </a:r>
            <a:endParaRPr lang="ko-KR" alt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97317" y="2331720"/>
            <a:ext cx="3545738" cy="3246120"/>
          </a:xfrm>
          <a:prstGeom prst="roundRect">
            <a:avLst>
              <a:gd name="adj" fmla="val 2254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7317" y="2697480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ko-KR" alt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097317" y="3474720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· 검증</a:t>
            </a:r>
            <a:endParaRPr lang="ko-KR" alt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71637" y="4023360"/>
            <a:ext cx="29970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· 디자인 · 손 동작 · 학습 구조 결정</a:t>
            </a:r>
            <a:endParaRPr lang="ko-KR" altLang="en-US" sz="1150" dirty="0"/>
          </a:p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손으로 써 보고 문제 발견</a:t>
            </a:r>
            <a:endParaRPr lang="ko-KR" altLang="en-US" sz="1150" dirty="0"/>
          </a:p>
          <a:p>
            <a:pPr eaLnBrk="0" algn="ctr" indent="0" marL="0">
              <a:lnSpc>
                <a:spcPct val="14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제안을 채택 · 수정 · 거부</a:t>
            </a:r>
            <a:endParaRPr lang="ko-KR" alt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1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'임의로 만들지 말고 질문으로 구체화, 요청 밖 변경은 먼저 묻기'. 판단마다 [직접 판단] / [AI 제안]을 표시한 설명 문서를 같이 만들었습니다.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AI &amp; Tools — 대표 사례 ① 손 입력: 문제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인식 문제를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확인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</a:t>
            </a:r>
            <a:endParaRPr lang="ko-KR" alt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645920"/>
            <a:ext cx="6400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ko-KR" alt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18288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2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핀치 후 손 펴기가 실제 손에서 안 됨</a:t>
            </a:r>
            <a:endParaRPr lang="ko-KR" altLang="en-US" sz="1200" dirty="0"/>
          </a:p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2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커서가 흘러가고, 추적은 초당 7번</a:t>
            </a:r>
            <a:endParaRPr lang="ko-KR" alt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6400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</a:t>
            </a:r>
            <a:endParaRPr lang="ko-KR" alt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2918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2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“MediaPipe가 안정적인 거 맞아? 웹XR이 더 낫지 않아?”</a:t>
            </a:r>
            <a:endParaRPr lang="ko-KR" altLang="en-US" sz="1200" dirty="0"/>
          </a:p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2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웹XR은 헤드셋 필요 → MediaPipe 유지, Gesture Recognizer 선택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6400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754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전달한 것</a:t>
            </a:r>
            <a:endParaRPr lang="ko-KR" alt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7548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2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“손을 펼칠 때 커서가 마음대로 움직여 … 레퍼런스 찾아 수정”</a:t>
            </a:r>
            <a:endParaRPr lang="ko-KR" altLang="en-US" sz="1200" dirty="0"/>
          </a:p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2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진단 칸 캡처 + 웹캠 한 대 · 한 손</a:t>
            </a:r>
            <a:endParaRPr lang="ko-KR" alt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1645920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16459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제가 보낸 진단 칸 (9/30)</a:t>
            </a:r>
            <a:endParaRPr lang="ko-KR" altLang="en-US" sz="900" dirty="0"/>
          </a:p>
        </p:txBody>
      </p:sp>
      <p:pic>
        <p:nvPicPr>
          <p:cNvPr id="25" name="Image 0" descr="C:/Users/rnsgu/AppData/Local/Temp/claude/C--Users-rnsgu-Immersive-Interaction/94f42bbf-d5e6-4aff-92e5-76f15327f75f/scratchpad/deck/diag-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984248"/>
            <a:ext cx="4373575" cy="176455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269480" y="3913395"/>
            <a:ext cx="43735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40000"/>
              </a:lnSpc>
              <a:buNone/>
            </a:pPr>
            <a:r>
              <a:rPr lang="ko-KR" altLang="en-US" sz="13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7 fps · 추론 156ms</a:t>
            </a:r>
            <a:endParaRPr lang="ko-KR" altLang="en-US" sz="1300" dirty="0"/>
          </a:p>
          <a:p>
            <a:pPr eaLnBrk="0" indent="0" marL="0">
              <a:lnSpc>
                <a:spcPct val="140000"/>
              </a:lnSpc>
              <a:buNone/>
            </a:pPr>
            <a:r>
              <a:rPr lang="ko-KR" altLang="en-US" sz="13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편 정도 37% (기준 미달)</a:t>
            </a:r>
            <a:endParaRPr lang="ko-KR" altLang="en-US" sz="1300" dirty="0"/>
          </a:p>
          <a:p>
            <a:pPr eaLnBrk="0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손 값 1.14가 AI가 정한 기준(1.55~1.9)에 못 미침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AI &amp; Tools — 대표 사례 ② 손 입력: 판단과 확인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제안을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손에 맞춰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고쳤습니다</a:t>
            </a:r>
            <a:endParaRPr lang="ko-KR" alt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91440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3063240"/>
                <a:gridCol w="2267712"/>
              </a:tblGrid>
              <a:tr h="47548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처음 낸 것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84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 판단 (근거)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바꾼 것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냈나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당기기 인식 = 손 크기로 거리 추정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인식이 안 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핀치 후 손 펴기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 제안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 손 기준 1.55~1.9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 손은 1.14 (37%)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모델 Open_Palm 점수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선택지 중 제가 선택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 만큼 펼치기 (0.75에서 고정)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끝까지 안 감, 은하도 같이 돎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손바닥 0.5면 한 번에, 은하는 첫 화면에서만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원칙은 제 제안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커서 = 엄지·검지 끝 중간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손을 펴면 커서가 흘러감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검지·중지 뿌리 관절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제안 → 채택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 GPU 고정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156~162ms로 느림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시작할 때 재서 빠른 쪽 (CPU)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3D3D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제안 → 채택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461772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80060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7 → 11 fps · 추론 156 → 84 ms</a:t>
            </a:r>
            <a:endParaRPr lang="ko-KR" alt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34924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100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다름: 전 = 제 실제 웹캠 캡처, 후 = 같은 PC 가짜 웹캠 시험</a:t>
            </a:r>
            <a:endParaRPr lang="ko-KR" alt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33008" y="461772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507328" y="480060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손 확인</a:t>
            </a:r>
            <a:endParaRPr lang="ko-KR" alt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507328" y="5212080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0000"/>
              </a:lnSpc>
              <a:buNone/>
            </a:pPr>
            <a:r>
              <a:rPr lang="ko-KR" altLang="en-US" sz="11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은하·층 돌리기 · 핀치 선택 · 손바닥 펼치기: 확인 (9/30)</a:t>
            </a:r>
            <a:endParaRPr lang="ko-KR" altLang="en-US" sz="1100" dirty="0"/>
          </a:p>
          <a:p>
            <a:pPr eaLnBrk="0" indent="0" marL="0">
              <a:lnSpc>
                <a:spcPct val="130000"/>
              </a:lnSpc>
              <a:buNone/>
            </a:pPr>
            <a:r>
              <a:rPr lang="ko-KR" altLang="en-US" sz="11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주먹(뒤로): 시연 영상에서 확인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AI &amp; Tools — 대표 사례 ③ 바꾼 코드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코드 네 곳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 → 후)</a:t>
            </a:r>
            <a:endParaRPr lang="ko-KR" alt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60020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178308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 기준점  </a:t>
            </a:r>
            <a:pPr eaLnBrk="0" indent="0" marL="0">
              <a:buNone/>
            </a:pPr>
            <a:r>
              <a:rPr lang="ko-KR" altLang="en-US" sz="10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펴거나 핀치하면 커서가 흘러감</a:t>
            </a:r>
            <a:endParaRPr lang="ko-KR" alt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194560"/>
            <a:ext cx="4861408" cy="1463040"/>
          </a:xfrm>
          <a:prstGeom prst="roundRect">
            <a:avLst>
              <a:gd name="adj" fmla="val 312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313432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전: 엄지 끝·검지 끝 중간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(tip.x + thumb.x) / 2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후: 검지·중지 뿌리 관절(5·9) 중간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(lm[5].x + lm[9].x) / 2</a:t>
            </a:r>
            <a:endParaRPr lang="ko-KR" alt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33008" y="160020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07328" y="178308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장치  </a:t>
            </a:r>
            <a:pPr eaLnBrk="0" indent="0" marL="0">
              <a:buNone/>
            </a:pPr>
            <a:r>
              <a:rPr lang="ko-KR" altLang="en-US" sz="10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7fps, 추론 156~162ms</a:t>
            </a:r>
            <a:endParaRPr lang="ko-KR" alt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07328" y="2194560"/>
            <a:ext cx="4861408" cy="1463040"/>
          </a:xfrm>
          <a:prstGeom prst="roundRect">
            <a:avLst>
              <a:gd name="adj" fmla="val 312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90208" y="2313432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전: GPU 고정 (실패할 때만 CPU)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makeLandmarker("GPU")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후: GPU·CPU를 재서 빠른 쪽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cands.sort((x, y) =&gt; x.ms - y.ms)</a:t>
            </a:r>
            <a:endParaRPr lang="ko-KR" alt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224528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주먹 판정  </a:t>
            </a:r>
            <a:pPr eaLnBrk="0" indent="0" marL="0">
              <a:buNone/>
            </a:pPr>
            <a:r>
              <a:rPr lang="ko-KR" altLang="en-US" sz="10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주먹을 쥐어도 안 닫힘</a:t>
            </a:r>
            <a:endParaRPr lang="ko-KR" alt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636008"/>
            <a:ext cx="4861408" cy="1463040"/>
          </a:xfrm>
          <a:prstGeom prst="roundRect">
            <a:avLst>
              <a:gd name="adj" fmla="val 312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47548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전: 손가락 말림 규칙, 3초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curled(12,10) &amp;&amp; curled(16,14) &amp;&amp; …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후: 모델 분류 점수, 0.6초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top.categoryName === "Closed_Fist"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&amp;&amp; top.score &gt;= 0.6</a:t>
            </a:r>
            <a:endParaRPr lang="ko-KR" alt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3008" y="4041648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07328" y="4224528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 손 판정  </a:t>
            </a:r>
            <a:pPr eaLnBrk="0" indent="0" marL="0">
              <a:buNone/>
            </a:pPr>
            <a:r>
              <a:rPr lang="ko-KR" altLang="en-US" sz="10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 정도 37%</a:t>
            </a:r>
            <a:endParaRPr lang="ko-KR" alt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07328" y="4636008"/>
            <a:ext cx="4861408" cy="1463040"/>
          </a:xfrm>
          <a:prstGeom prst="roundRect">
            <a:avLst>
              <a:gd name="adj" fmla="val 312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0208" y="47548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전: 직접 정한 비율 구간 (1.55~1.9)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(ext - extFrom) / (extTo - extFrom)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후: 공식 모델의 Open_Palm 점수</a:t>
            </a:r>
            <a:endParaRPr lang="ko-KR" altLang="en-US" sz="10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= palm ? palm.score : 0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AI &amp; Tools — 보조 사례: 학습 내용을 만드는 방식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OpenAI API로, 결국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Codex로 미리 생성</a:t>
            </a:r>
            <a:endParaRPr lang="ko-KR" alt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691640"/>
            <a:ext cx="342381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192024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계획  </a:t>
            </a:r>
            <a:pPr eaLnBrk="0" indent="0" marL="0">
              <a:buNone/>
            </a:pPr>
            <a:r>
              <a:rPr lang="ko-KR" alt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9/22</a:t>
            </a:r>
            <a:endParaRPr lang="ko-KR" alt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377440"/>
            <a:ext cx="28751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논문을 열면 OpenAI API가 그 자리에서 학습 카드를 생성. 키가 드러나지 않게 로컬 서버와 Cloudflare Worker까지 만들어 둠</a:t>
            </a:r>
            <a:endParaRPr lang="ko-KR" alt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972458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alt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83938" y="1691640"/>
            <a:ext cx="342381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658258" y="192024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부딪힌 문제  </a:t>
            </a:r>
            <a:pPr eaLnBrk="0" indent="0" marL="0">
              <a:buNone/>
            </a:pPr>
            <a:r>
              <a:rPr lang="ko-KR" altLang="en-US" sz="10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9/27</a:t>
            </a:r>
            <a:endParaRPr lang="ko-KR" alt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58258" y="2377440"/>
            <a:ext cx="28751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API는 쓴 만큼 따로 결제. 시연 때 서버·키·네트워크 중 하나만 문제여도 멈춤. 실제 생성은 개념 3개에 6~7분</a:t>
            </a:r>
            <a:endParaRPr lang="ko-KR" alt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807757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alt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19237" y="1691640"/>
            <a:ext cx="3423818" cy="2240280"/>
          </a:xfrm>
          <a:prstGeom prst="roundRect">
            <a:avLst>
              <a:gd name="adj" fmla="val 3265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93557" y="192024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방식  </a:t>
            </a:r>
            <a:pPr eaLnBrk="0" indent="0" marL="0">
              <a:buNone/>
            </a:pPr>
            <a:r>
              <a:rPr lang="ko-KR" altLang="en-US" sz="100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9/27</a:t>
            </a:r>
            <a:endParaRPr lang="ko-KR" alt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493557" y="2377440"/>
            <a:ext cx="28751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44편은 정해진 목록 → 미리 만들어 두면 됨. ChatGPT 구독으로 도는 Codex CLI로 사전 생성, 서버 코드 삭제. 발표 전에 결과를 직접 검토</a:t>
            </a:r>
            <a:endParaRPr lang="ko-KR" alt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251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40000"/>
              </a:lnSpc>
              <a:buNone/>
            </a:pPr>
            <a:r>
              <a:rPr lang="ko-KR" altLang="en-US" sz="12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판단  </a:t>
            </a:r>
            <a:pPr eaLnBrk="0" indent="0" marL="0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결제 안 함(호출 0회) · 서버 코드 삭제 · 모델 GPT-6-Luna(max) 고정 · 해설형 카드 폐기</a:t>
            </a:r>
            <a:endParaRPr lang="ko-KR" altLang="en-US" sz="1200" dirty="0"/>
          </a:p>
          <a:p>
            <a:pPr eaLnBrk="0" indent="0" marL="0">
              <a:lnSpc>
                <a:spcPct val="140000"/>
              </a:lnSpc>
              <a:buNone/>
            </a:pPr>
            <a:r>
              <a:rPr lang="ko-KR" altLang="en-US" sz="12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 맡김  </a:t>
            </a:r>
            <a:pPr eaLnBrk="0" indent="0" marL="0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CLI 사용 방식 제안·생성 스크립트·검증 코드 (Claude), 학습 내용 생성 (Codex)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AI &amp; Tools — AI가 짠 코드를 내 것으로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코드를 </a:t>
            </a:r>
            <a:pPr eaLnBrk="0" indent="0" marL="0">
              <a:buNone/>
            </a:pPr>
            <a:r>
              <a:rPr lang="ko-KR" altLang="en-US" sz="3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공부하고 검증했습니다</a:t>
            </a:r>
            <a:endParaRPr lang="ko-KR" alt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260215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214884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ko-KR" alt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69748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생성 → JSON → 앱</a:t>
            </a:r>
            <a:endParaRPr lang="ko-KR" alt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79394" y="1828800"/>
            <a:ext cx="260215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653714" y="214884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파일별 코드</a:t>
            </a:r>
            <a:endParaRPr lang="ko-KR" alt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653714" y="269748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입력 · 은하 · 층 · 화면</a:t>
            </a:r>
            <a:endParaRPr lang="ko-KR" alt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0148" y="1828800"/>
            <a:ext cx="260215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84468" y="214884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흐름</a:t>
            </a:r>
            <a:endParaRPr lang="ko-KR" alt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84468" y="269748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핀치 → 손 펴기 → 주먹까지 추적</a:t>
            </a:r>
            <a:endParaRPr lang="ko-KR" alt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40901" y="1828800"/>
            <a:ext cx="2602154" cy="2011680"/>
          </a:xfrm>
          <a:prstGeom prst="roundRect">
            <a:avLst>
              <a:gd name="adj" fmla="val 3636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15221" y="214884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검증</a:t>
            </a:r>
            <a:endParaRPr lang="ko-KR" alt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315221" y="269748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300" dirty="0">
                <a:solidFill>
                  <a:srgbClr val="D6D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바꿔 보고 되돌리기, 자가 테스트 30문항</a:t>
            </a:r>
            <a:endParaRPr lang="ko-KR" alt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노트  </a:t>
            </a:r>
            <a:pPr eaLnBrk="0" indent="0" marL="0">
              <a:buNone/>
            </a:pPr>
            <a:r>
              <a:rPr lang="ko-KR" altLang="en-US" sz="13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docs/15-system-study.md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0199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80199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무엇</a:t>
            </a:r>
            <a:endParaRPr lang="ko-KR" alt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8003743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3743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결과</a:t>
            </a:r>
            <a:endParaRPr lang="ko-KR" alt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927287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27287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탐색</a:t>
            </a:r>
            <a:endParaRPr lang="ko-KR" alt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850831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50831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AI·도구</a:t>
            </a:r>
            <a:endParaRPr lang="ko-KR" alt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774375" y="3291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74375" y="3291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회고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000" b="1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Retrospective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7315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endParaRPr lang="ko-KR" alt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입력은 기능을 더하는 것보다, 실제 손에서 재 보고 고치는 것이 먼저였습니다.</a:t>
            </a:r>
            <a:endParaRPr lang="ko-KR" alt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3545738" cy="2926080"/>
          </a:xfrm>
          <a:prstGeom prst="roundRect">
            <a:avLst>
              <a:gd name="adj" fmla="val 25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01752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ko-KR" alt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566160"/>
            <a:ext cx="29056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좌표·마우스 검증은 다 통과해도 실제 손은 달랐음. 추론 시간·손 모양 값을 화면에 띄우고 숫자로 원인을 가르니 고칠 곳이 보였음.</a:t>
            </a:r>
            <a:endParaRPr lang="ko-KR" alt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22978" y="2651760"/>
            <a:ext cx="3545738" cy="2926080"/>
          </a:xfrm>
          <a:prstGeom prst="roundRect">
            <a:avLst>
              <a:gd name="adj" fmla="val 25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43018" y="301752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ko-KR" alt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643018" y="3566160"/>
            <a:ext cx="29056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내용은 AI가 제목·초록으로 만든 것이라 원문 수준의 깊이는 없고 오류가 있을 수 있음(초록 없는 7편은 제목 기반). 손 추적은 조명·카메라·PC 성능에 민감 (이 PC 실제 웹캠에서 초당 7번)</a:t>
            </a:r>
            <a:endParaRPr lang="ko-KR" alt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7317" y="2651760"/>
            <a:ext cx="3545738" cy="2926080"/>
          </a:xfrm>
          <a:prstGeom prst="roundRect">
            <a:avLst>
              <a:gd name="adj" fmla="val 25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7357" y="301752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확인할 것</a:t>
            </a:r>
            <a:endParaRPr lang="ko-KR" alt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17357" y="3566160"/>
            <a:ext cx="29056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35000"/>
              </a:lnSpc>
              <a:buNone/>
            </a:pPr>
            <a:r>
              <a:rPr lang="ko-KR" altLang="en-US" sz="11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써 보는 사람이 손 동작 세 가지를 설명 없이 알아채는지, 개념 학습 뒤 실제로 논문이 더 잘 읽히는지 관찰하고, 추론을 별도 스레드(Worker)로 분리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008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1887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ko-KR" alt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355848" y="224028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55848" y="22402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 </a:t>
            </a:r>
            <a:pPr eaLnBrk="0" algn="ctr" indent="0" marL="0">
              <a:buNone/>
            </a:pPr>
            <a:r>
              <a:rPr lang="ko-KR" altLang="en-US" sz="1200" u="sng" dirty="0">
                <a:solidFill>
                  <a:srgbClr val="0084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gunhyeok0803.github.io/Immersive_Interaction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55848" y="292608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5848" y="29260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200" b="1" dirty="0">
                <a:solidFill>
                  <a:srgbClr val="1212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 </a:t>
            </a:r>
            <a:pPr eaLnBrk="0" algn="ctr" indent="0" marL="0">
              <a:buNone/>
            </a:pPr>
            <a:r>
              <a:rPr lang="ko-KR" altLang="en-US" sz="1200" dirty="0">
                <a:solidFill>
                  <a:srgbClr val="3D3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github.com/gunhyeok0803/Immersive_Interaction</a:t>
            </a:r>
            <a:endParaRPr lang="ko-KR" alt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0" y="51206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lnSpc>
                <a:spcPct val="140000"/>
              </a:lnSpc>
              <a:buNone/>
            </a:pPr>
            <a:r>
              <a:rPr lang="ko-KR" altLang="en-US" sz="10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 Claude Code와 함께   ·   학습 내용  Codex (GPT-6-Luna) 사전 생성   ·   손 추적  MediaPipe Gesture Recognizer</a:t>
            </a:r>
            <a:endParaRPr lang="ko-KR" altLang="en-US" sz="1050" dirty="0"/>
          </a:p>
          <a:p>
            <a:pPr eaLnBrk="0" algn="ctr" indent="0" marL="0">
              <a:lnSpc>
                <a:spcPct val="140000"/>
              </a:lnSpc>
              <a:buNone/>
            </a:pPr>
            <a:r>
              <a:rPr lang="ko-KR" altLang="en-US" sz="10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데이터  OpenAlex · Semantic Scholar · Crossref   ·   레퍼런스  @chloe_et_al · 자비스 쇼츠 · @tectimmy · @measure_plan</a:t>
            </a:r>
            <a:endParaRPr lang="ko-KR" alt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손으로 펼치는 연구실</dc:title>
  <dc:subject>PptxGenJS Presentation</dc:subject>
  <dc:creator>PptxGenJS</dc:creator>
  <cp:lastModifiedBy>PptxGenJS</cp:lastModifiedBy>
  <cp:revision>1</cp:revision>
  <dcterms:created xsi:type="dcterms:W3CDTF">2026-09-30T08:15:08Z</dcterms:created>
  <dcterms:modified xsi:type="dcterms:W3CDTF">2026-09-30T08:15:08Z</dcterms:modified>
</cp:coreProperties>
</file>